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71" r:id="rId5"/>
    <p:sldId id="274" r:id="rId6"/>
    <p:sldId id="293" r:id="rId7"/>
    <p:sldId id="288" r:id="rId8"/>
    <p:sldId id="286" r:id="rId9"/>
    <p:sldId id="287" r:id="rId10"/>
    <p:sldId id="289" r:id="rId11"/>
    <p:sldId id="294" r:id="rId12"/>
    <p:sldId id="295" r:id="rId13"/>
    <p:sldId id="272" r:id="rId14"/>
    <p:sldId id="275" r:id="rId15"/>
    <p:sldId id="273" r:id="rId16"/>
    <p:sldId id="292" r:id="rId17"/>
    <p:sldId id="291" r:id="rId18"/>
    <p:sldId id="276" r:id="rId19"/>
    <p:sldId id="290" r:id="rId20"/>
    <p:sldId id="285" r:id="rId21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C63"/>
    <a:srgbClr val="96628C"/>
    <a:srgbClr val="11A0D7"/>
    <a:srgbClr val="E61F3D"/>
    <a:srgbClr val="CD5A5A"/>
    <a:srgbClr val="FFD746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86" autoAdjust="0"/>
    <p:restoredTop sz="93324" autoAdjust="0"/>
  </p:normalViewPr>
  <p:slideViewPr>
    <p:cSldViewPr snapToGrid="0" snapToObjects="1">
      <p:cViewPr>
        <p:scale>
          <a:sx n="66" d="100"/>
          <a:sy n="66" d="100"/>
        </p:scale>
        <p:origin x="544" y="-128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Швеция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Лист1!$A$2:$A$6</c:f>
              <c:strCache>
                <c:ptCount val="5"/>
                <c:pt idx="0">
                  <c:v>Linear Regression</c:v>
                </c:pt>
                <c:pt idx="1">
                  <c:v>SVM</c:v>
                </c:pt>
                <c:pt idx="2">
                  <c:v>Decision Tree</c:v>
                </c:pt>
                <c:pt idx="3">
                  <c:v>Random Forest</c:v>
                </c:pt>
                <c:pt idx="4">
                  <c:v>CatBoostRegressor</c:v>
                </c:pt>
              </c:strCache>
            </c:str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0.18</c:v>
                </c:pt>
                <c:pt idx="1">
                  <c:v>0.17299999999999999</c:v>
                </c:pt>
                <c:pt idx="2">
                  <c:v>0.14599999999999999</c:v>
                </c:pt>
                <c:pt idx="3">
                  <c:v>0.18</c:v>
                </c:pt>
                <c:pt idx="4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5C-427D-9BFC-388038942DA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РФ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Лист1!$A$2:$A$6</c:f>
              <c:strCache>
                <c:ptCount val="5"/>
                <c:pt idx="0">
                  <c:v>Linear Regression</c:v>
                </c:pt>
                <c:pt idx="1">
                  <c:v>SVM</c:v>
                </c:pt>
                <c:pt idx="2">
                  <c:v>Decision Tree</c:v>
                </c:pt>
                <c:pt idx="3">
                  <c:v>Random Forest</c:v>
                </c:pt>
                <c:pt idx="4">
                  <c:v>CatBoostRegressor</c:v>
                </c:pt>
              </c:strCache>
            </c:strRef>
          </c:cat>
          <c:val>
            <c:numRef>
              <c:f>Лист1!$C$2:$C$6</c:f>
              <c:numCache>
                <c:formatCode>General</c:formatCode>
                <c:ptCount val="5"/>
                <c:pt idx="0">
                  <c:v>0.20399999999999999</c:v>
                </c:pt>
                <c:pt idx="1">
                  <c:v>0.186</c:v>
                </c:pt>
                <c:pt idx="2">
                  <c:v>0.158</c:v>
                </c:pt>
                <c:pt idx="3">
                  <c:v>0.20100000000000001</c:v>
                </c:pt>
                <c:pt idx="4">
                  <c:v>0.218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5C-427D-9BFC-388038942DA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Великобритания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Лист1!$A$2:$A$6</c:f>
              <c:strCache>
                <c:ptCount val="5"/>
                <c:pt idx="0">
                  <c:v>Linear Regression</c:v>
                </c:pt>
                <c:pt idx="1">
                  <c:v>SVM</c:v>
                </c:pt>
                <c:pt idx="2">
                  <c:v>Decision Tree</c:v>
                </c:pt>
                <c:pt idx="3">
                  <c:v>Random Forest</c:v>
                </c:pt>
                <c:pt idx="4">
                  <c:v>CatBoostRegressor</c:v>
                </c:pt>
              </c:strCache>
            </c:strRef>
          </c:cat>
          <c:val>
            <c:numRef>
              <c:f>Лист1!$D$2:$D$6</c:f>
              <c:numCache>
                <c:formatCode>General</c:formatCode>
                <c:ptCount val="5"/>
                <c:pt idx="0">
                  <c:v>0.23300000000000001</c:v>
                </c:pt>
                <c:pt idx="1">
                  <c:v>0.219</c:v>
                </c:pt>
                <c:pt idx="2">
                  <c:v>0.186</c:v>
                </c:pt>
                <c:pt idx="3">
                  <c:v>0.223</c:v>
                </c:pt>
                <c:pt idx="4">
                  <c:v>0.247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65C-427D-9BFC-388038942D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61598448"/>
        <c:axId val="761589712"/>
      </c:barChart>
      <c:catAx>
        <c:axId val="761598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61589712"/>
        <c:crosses val="autoZero"/>
        <c:auto val="1"/>
        <c:lblAlgn val="ctr"/>
        <c:lblOffset val="100"/>
        <c:noMultiLvlLbl val="0"/>
      </c:catAx>
      <c:valAx>
        <c:axId val="761589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61598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05/06/2026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2. В работе впервые на данных ESS за выбранные волны проводится сравнительный анализ трёх разнородных стран — Великобритании (либеральная модель), Швеции (социал-демократическая модель) и России (переходная / постсоветская модель). Большинство существующих исследований ограничиваются либо сравнением стран одного типа (например, только западноевропейских), либо используют усреднённые показатели по группам стран. Сопоставление стран с принципиально разными институциональными условиями позволяет выявить, как один и тот же социально-экономический фактор по-разному влияет на счастье в зависимости от модели общественного устройства;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67970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6022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1. </a:t>
            </a:r>
            <a:r>
              <a:rPr lang="ru-RU" sz="1200" b="0" i="0" dirty="0">
                <a:solidFill>
                  <a:schemeClr val="tx1"/>
                </a:solidFill>
                <a:effectLst/>
                <a:latin typeface="-apple-system"/>
              </a:rPr>
              <a:t>(на основе </a:t>
            </a:r>
            <a:r>
              <a:rPr lang="ru-RU" sz="1200" dirty="0">
                <a:solidFill>
                  <a:schemeClr val="tx1"/>
                </a:solidFill>
                <a:latin typeface="-apple-system"/>
              </a:rPr>
              <a:t>классической типологией Г. </a:t>
            </a:r>
            <a:r>
              <a:rPr lang="ru-RU" sz="1200" dirty="0" err="1">
                <a:solidFill>
                  <a:schemeClr val="tx1"/>
                </a:solidFill>
                <a:latin typeface="-apple-system"/>
              </a:rPr>
              <a:t>Эспинг</a:t>
            </a:r>
            <a:r>
              <a:rPr lang="ru-RU" sz="1200" dirty="0">
                <a:solidFill>
                  <a:schemeClr val="tx1"/>
                </a:solidFill>
                <a:latin typeface="-apple-system"/>
              </a:rPr>
              <a:t>-Андерсена)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48441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ANOVA — это тест: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объясняет ли фактор “страна” часть вариации переменной.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F статистика рассчитывается как отношение межгрупповой дисперсии к внутригрупповой </a:t>
            </a:r>
            <a:br>
              <a:rPr lang="ru-RU" dirty="0"/>
            </a:br>
            <a:endParaRPr lang="ru-RU" dirty="0"/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Результаты непараметрических тестов Манна–Уитни показали, что уровень счастья в Швеции статистически значимо выше, чем в России и Великобритании (p &lt; 0.001). Это подтверждает гипотезу о более высоком уровне счастья в Швеции.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Для проверки гипотезы использован непараметрический тест Манна–Уитни, поскольку зависимая переменная имеет порядковую природу и не предполагается нормальность распределения (так как опросный данные) Тест позволяет корректно сравнивать распределения между двумя независимыми группами. (Швеция &gt; РФ и лучше Британии)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636631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ANOVA — это тест: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объясняет ли фактор “страна” часть вариации переменной.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F статистика рассчитывается как отношение межгрупповой дисперсии к внутригрупповой </a:t>
            </a:r>
            <a:br>
              <a:rPr lang="ru-RU" dirty="0"/>
            </a:br>
            <a:endParaRPr lang="ru-RU" dirty="0"/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Результаты непараметрических тестов Манна–Уитни показали, что уровень счастья в Швеции статистически значимо выше, чем в России и Великобритании (p &lt; 0.001). Это подтверждает гипотезу о более высоком уровне счастья в Швеции.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Для проверки гипотезы использован непараметрический тест Манна–Уитни, поскольку зависимая переменная имеет порядковую природу и не предполагается нормальность распределения (так как опросный данные) Тест позволяет корректно сравнивать распределения между двумя независимыми группами. (Швеция &gt; РФ и лучше Британии)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39074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ANOVA — это тест: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объясняет ли фактор “страна” часть вариации переменной.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F статистика рассчитывается как отношение межгрупповой дисперсии к внутригрупповой </a:t>
            </a:r>
            <a:br>
              <a:rPr lang="ru-RU" dirty="0"/>
            </a:br>
            <a:endParaRPr lang="ru-RU" dirty="0"/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Результаты непараметрических тестов Манна–Уитни показали, что уровень счастья в Швеции статистически значимо выше, чем в России и Великобритании (p &lt; 0.001). Это подтверждает гипотезу о более высоком уровне счастья в Швеции.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Для проверки гипотезы использован непараметрический тест Манна–Уитни, поскольку зависимая переменная имеет порядковую природу и не предполагается нормальность распределения (так как опросный данные) Тест позволяет корректно сравнивать распределения между двумя независимыми группами. (Швеция &gt; РФ и лучше Британии)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748605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Спирмен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проверяет:</a:t>
            </a:r>
            <a:b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есть ли монотонная связь между двумя переменными</a:t>
            </a:r>
            <a:b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</a:br>
            <a:b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Корреляционный анализ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Спирмена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используется для выявления направлений и силы монотонных связей между переменными. Результаты носят описательный характер и служат основой для последующего моделирования.</a:t>
            </a:r>
            <a:b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дополнительно оценивается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стат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значимость коэффициентов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с использованием функции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spearmanr</a:t>
            </a:r>
            <a:endParaRPr lang="ru-RU" b="0" i="0" dirty="0">
              <a:solidFill>
                <a:srgbClr val="000000"/>
              </a:solidFill>
              <a:effectLst/>
              <a:latin typeface="-apple-system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56949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517208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Швеция:</a:t>
            </a:r>
          </a:p>
          <a:p>
            <a:r>
              <a:rPr lang="ru-RU" dirty="0"/>
              <a:t>коэффициенты почти монотонно растут</a:t>
            </a:r>
          </a:p>
          <a:p>
            <a:r>
              <a:rPr lang="ru-RU" dirty="0"/>
              <a:t>значимость появляется уже с середины шкалы</a:t>
            </a:r>
          </a:p>
          <a:p>
            <a:r>
              <a:rPr lang="ru-RU" dirty="0"/>
              <a:t>эффект самый большой</a:t>
            </a:r>
          </a:p>
          <a:p>
            <a:r>
              <a:rPr lang="ru-RU" dirty="0"/>
              <a:t>В Россия:</a:t>
            </a:r>
          </a:p>
          <a:p>
            <a:r>
              <a:rPr lang="ru-RU" dirty="0"/>
              <a:t>до 5 уровня — почти нет эффекта</a:t>
            </a:r>
          </a:p>
          <a:p>
            <a:r>
              <a:rPr lang="ru-RU" dirty="0"/>
              <a:t>потом резкий рост (порог)</a:t>
            </a:r>
          </a:p>
          <a:p>
            <a:r>
              <a:rPr lang="ru-RU" dirty="0"/>
              <a:t>В Великобритания:</a:t>
            </a:r>
          </a:p>
          <a:p>
            <a:r>
              <a:rPr lang="ru-RU" dirty="0"/>
              <a:t>слабая и нестабильная связь</a:t>
            </a:r>
          </a:p>
          <a:p>
            <a:r>
              <a:rPr lang="ru-RU" dirty="0"/>
              <a:t>даже отрицательный эффект на низких уровнях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83655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35376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05/06/2026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Взаимосвязь социально-экономических факторов и восприятия счастья в странах с разными моделями общественного устройства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Факультет компьютерных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900" dirty="0">
                <a:solidFill>
                  <a:schemeClr val="tx1"/>
                </a:solidFill>
              </a:rPr>
              <a:t>Магистерская программа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900" dirty="0">
                <a:solidFill>
                  <a:schemeClr val="tx1"/>
                </a:solidFill>
              </a:rPr>
              <a:t>“Аналитика больших данных”</a:t>
            </a:r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02841" y="5393019"/>
            <a:ext cx="7625267" cy="1175914"/>
          </a:xfrm>
        </p:spPr>
        <p:txBody>
          <a:bodyPr/>
          <a:lstStyle/>
          <a:p>
            <a:pPr algn="r"/>
            <a:r>
              <a:rPr lang="ru-RU" dirty="0"/>
              <a:t>Студент - Хасаншина А.Р.</a:t>
            </a:r>
          </a:p>
          <a:p>
            <a:pPr algn="r"/>
            <a:r>
              <a:rPr lang="ru-RU" dirty="0"/>
              <a:t>Научный руководитель – Паршина А. А.</a:t>
            </a:r>
          </a:p>
          <a:p>
            <a:pPr algn="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A33D5D5-13C7-8644-8CD8-A04CCCE736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Магистерская программа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“Аналитика больших данных”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8095CB-94DB-754D-A4ED-35EBDDB3F7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636837" cy="408109"/>
          </a:xfrm>
        </p:spPr>
        <p:txBody>
          <a:bodyPr/>
          <a:lstStyle/>
          <a:p>
            <a:r>
              <a:rPr lang="ru-RU" dirty="0"/>
              <a:t>Взаимосвязь социально-экономических факторов и восприятия счастья в странах с разными моделями общественного устройства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EBFC62C-9588-F544-918B-2104A12C9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10714699" cy="77702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ru-RU" dirty="0"/>
              <a:t>Цель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622317-DCC7-F945-8031-3E7F389B98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115258"/>
            <a:ext cx="9692839" cy="777025"/>
          </a:xfrm>
        </p:spPr>
        <p:txBody>
          <a:bodyPr>
            <a:norm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</a:t>
            </a:r>
            <a:r>
              <a:rPr lang="ru-RU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нализ взаимосвязи </a:t>
            </a:r>
            <a: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социально-экономических </a:t>
            </a:r>
            <a:r>
              <a:rPr lang="ru-RU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факторов и восприятия счастья в странах с различными моделями общественного устройства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FE4DD9E-D443-AF4F-A072-F5C4D494A0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9" name="Заголовок 3">
            <a:extLst>
              <a:ext uri="{FF2B5EF4-FFF2-40B4-BE49-F238E27FC236}">
                <a16:creationId xmlns:a16="http://schemas.microsoft.com/office/drawing/2014/main" id="{E463180D-7A93-49E6-9C8B-0382634E4214}"/>
              </a:ext>
            </a:extLst>
          </p:cNvPr>
          <p:cNvSpPr txBox="1">
            <a:spLocks/>
          </p:cNvSpPr>
          <p:nvPr/>
        </p:nvSpPr>
        <p:spPr>
          <a:xfrm>
            <a:off x="585898" y="2896863"/>
            <a:ext cx="10714699" cy="7770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dirty="0"/>
              <a:t>Задачи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C16DB8-BE82-427A-B24C-6FFA5D067FB9}"/>
              </a:ext>
            </a:extLst>
          </p:cNvPr>
          <p:cNvSpPr txBox="1"/>
          <p:nvPr/>
        </p:nvSpPr>
        <p:spPr>
          <a:xfrm>
            <a:off x="585897" y="3429000"/>
            <a:ext cx="813946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ru-RU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• рассмотреть теоретические подходы к определению счастья и субъективного благополучия;</a:t>
            </a:r>
            <a:br>
              <a:rPr lang="ru-RU" sz="1600" dirty="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• проанализировать основные социально-экономические факторы, влияющие на уровень счастья;</a:t>
            </a:r>
            <a:br>
              <a:rPr lang="ru-RU" sz="1600" dirty="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• изучить модели общественного устройства и их особенности;</a:t>
            </a:r>
            <a:br>
              <a:rPr lang="ru-RU" sz="1600" dirty="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• провести сравнительный анализ уровня счастья Великобритании, Швеции и России;</a:t>
            </a:r>
            <a:br>
              <a:rPr lang="ru-RU" sz="1600" dirty="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• выявить ключевые закономерности взаимосвязи между социально-экономическими условиями и субъективным благополучием</a:t>
            </a:r>
          </a:p>
        </p:txBody>
      </p:sp>
      <p:sp>
        <p:nvSpPr>
          <p:cNvPr id="12" name="Скругленный прямоугольник 21">
            <a:extLst>
              <a:ext uri="{FF2B5EF4-FFF2-40B4-BE49-F238E27FC236}">
                <a16:creationId xmlns:a16="http://schemas.microsoft.com/office/drawing/2014/main" id="{7AEB5F25-4C3F-455A-8B1B-BDF06EC88FE2}"/>
              </a:ext>
            </a:extLst>
          </p:cNvPr>
          <p:cNvSpPr/>
          <p:nvPr/>
        </p:nvSpPr>
        <p:spPr>
          <a:xfrm>
            <a:off x="9959567" y="1865165"/>
            <a:ext cx="1927633" cy="1763677"/>
          </a:xfrm>
          <a:prstGeom prst="roundRect">
            <a:avLst/>
          </a:prstGeom>
          <a:solidFill>
            <a:srgbClr val="00206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Скругленный прямоугольник 19">
            <a:extLst>
              <a:ext uri="{FF2B5EF4-FFF2-40B4-BE49-F238E27FC236}">
                <a16:creationId xmlns:a16="http://schemas.microsoft.com/office/drawing/2014/main" id="{46319CCF-FBDB-48C0-887B-3AA1007D8879}"/>
              </a:ext>
            </a:extLst>
          </p:cNvPr>
          <p:cNvSpPr/>
          <p:nvPr/>
        </p:nvSpPr>
        <p:spPr>
          <a:xfrm>
            <a:off x="9959567" y="4086354"/>
            <a:ext cx="1927633" cy="233495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rgbClr val="002060"/>
                </a:solidFill>
                <a:latin typeface="Arial MT"/>
              </a:rPr>
              <a:t>Объект исследования</a:t>
            </a:r>
            <a:endParaRPr lang="ru-RU" sz="1200" dirty="0">
              <a:solidFill>
                <a:srgbClr val="002060"/>
              </a:solidFill>
              <a:latin typeface="Arial MT"/>
            </a:endParaRPr>
          </a:p>
          <a:p>
            <a:pPr algn="ctr"/>
            <a:endParaRPr lang="ru-RU" sz="1200" b="1" dirty="0">
              <a:solidFill>
                <a:srgbClr val="002060"/>
              </a:solidFill>
              <a:latin typeface="Arial MT"/>
            </a:endParaRPr>
          </a:p>
          <a:p>
            <a:pPr algn="ctr"/>
            <a:r>
              <a:rPr lang="ru-RU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оциально-экономически</a:t>
            </a:r>
            <a:r>
              <a:rPr lang="ru-RU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 </a:t>
            </a:r>
            <a:r>
              <a:rPr lang="ru-RU" sz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факторы, влияющие на восприятие счастья в различных моделях общественного устройства</a:t>
            </a:r>
            <a:endParaRPr lang="ru-RU" sz="1200" dirty="0">
              <a:solidFill>
                <a:schemeClr val="tx1"/>
              </a:solidFill>
              <a:latin typeface="Arial M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DD7E82-9029-49E7-832B-A023279E2C09}"/>
              </a:ext>
            </a:extLst>
          </p:cNvPr>
          <p:cNvSpPr txBox="1"/>
          <p:nvPr/>
        </p:nvSpPr>
        <p:spPr>
          <a:xfrm>
            <a:off x="9959566" y="2012500"/>
            <a:ext cx="19276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  <a:latin typeface="Arial MT"/>
              </a:rPr>
              <a:t>Предмет исследования</a:t>
            </a:r>
          </a:p>
          <a:p>
            <a:pPr algn="ctr"/>
            <a:endParaRPr lang="ru-RU" sz="1200" dirty="0">
              <a:solidFill>
                <a:schemeClr val="bg1"/>
              </a:solidFill>
              <a:latin typeface="Arial MT"/>
            </a:endParaRPr>
          </a:p>
          <a:p>
            <a:pPr algn="ctr"/>
            <a:endParaRPr lang="ru-RU" sz="1200" dirty="0">
              <a:solidFill>
                <a:schemeClr val="bg1"/>
              </a:solidFill>
              <a:latin typeface="Arial MT"/>
            </a:endParaRPr>
          </a:p>
          <a:p>
            <a:pPr algn="ctr"/>
            <a:r>
              <a:rPr lang="ru-RU" sz="1200" dirty="0">
                <a:solidFill>
                  <a:schemeClr val="bg1"/>
                </a:solidFill>
                <a:latin typeface="Arial MT"/>
              </a:rPr>
              <a:t>Субъективное благополучие</a:t>
            </a:r>
          </a:p>
        </p:txBody>
      </p:sp>
    </p:spTree>
    <p:extLst>
      <p:ext uri="{BB962C8B-B14F-4D97-AF65-F5344CB8AC3E}">
        <p14:creationId xmlns:p14="http://schemas.microsoft.com/office/powerpoint/2010/main" val="712383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A33D5D5-13C7-8644-8CD8-A04CCCE736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Магистерская программа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“Аналитика больших данных”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8095CB-94DB-754D-A4ED-35EBDDB3F7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636837" cy="408109"/>
          </a:xfrm>
        </p:spPr>
        <p:txBody>
          <a:bodyPr/>
          <a:lstStyle/>
          <a:p>
            <a:r>
              <a:rPr lang="ru-RU" dirty="0"/>
              <a:t>Взаимосвязь социально-экономических факторов и восприятия счастья в странах с разными моделями общественного устройства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EBFC62C-9588-F544-918B-2104A12C9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10714699" cy="77702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ru-RU" dirty="0"/>
              <a:t>Модели общественного устройства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622317-DCC7-F945-8031-3E7F389B98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115258"/>
            <a:ext cx="9692839" cy="400724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Социал-демократическая страна (Швеция): высокие пособия, активная политика государства</a:t>
            </a:r>
            <a:r>
              <a:rPr lang="en-US" sz="1600" dirty="0">
                <a:solidFill>
                  <a:schemeClr val="tx1"/>
                </a:solidFill>
              </a:rPr>
              <a:t>;</a:t>
            </a:r>
            <a:r>
              <a:rPr lang="ru-RU" sz="1600" dirty="0">
                <a:solidFill>
                  <a:schemeClr val="tx1"/>
                </a:solidFill>
              </a:rPr>
              <a:t> ответственность за благосостояние граждан ложится именно на государство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Либеральная модель (Великобритания): минимальная роль государства в перераспределении ресурсов</a:t>
            </a:r>
            <a:r>
              <a:rPr lang="en-US" sz="1600" dirty="0">
                <a:solidFill>
                  <a:schemeClr val="tx1"/>
                </a:solidFill>
              </a:rPr>
              <a:t>;</a:t>
            </a:r>
            <a:r>
              <a:rPr lang="ru-RU" sz="1600" dirty="0">
                <a:solidFill>
                  <a:schemeClr val="tx1"/>
                </a:solidFill>
              </a:rPr>
              <a:t> предоставление социальной помощи на основе проверки нуждаемости</a:t>
            </a:r>
            <a:r>
              <a:rPr lang="en-US" sz="1600" dirty="0">
                <a:solidFill>
                  <a:schemeClr val="tx1"/>
                </a:solidFill>
              </a:rPr>
              <a:t>;</a:t>
            </a:r>
            <a:r>
              <a:rPr lang="ru-RU" sz="1600" dirty="0">
                <a:solidFill>
                  <a:schemeClr val="tx1"/>
                </a:solidFill>
              </a:rPr>
              <a:t> небольшие пособия</a:t>
            </a:r>
            <a:r>
              <a:rPr lang="en-US" sz="1600" dirty="0">
                <a:solidFill>
                  <a:schemeClr val="tx1"/>
                </a:solidFill>
              </a:rPr>
              <a:t>; </a:t>
            </a:r>
            <a:r>
              <a:rPr lang="ru-RU" sz="1600" dirty="0">
                <a:solidFill>
                  <a:schemeClr val="tx1"/>
                </a:solidFill>
              </a:rPr>
              <a:t>ответственность за благосостояние граждан ложится на рынок и частные институты</a:t>
            </a:r>
            <a:r>
              <a:rPr lang="en-US" sz="1600" dirty="0">
                <a:solidFill>
                  <a:schemeClr val="tx1"/>
                </a:solidFill>
              </a:rPr>
              <a:t>; </a:t>
            </a:r>
            <a:r>
              <a:rPr lang="ru-RU" sz="1600" dirty="0">
                <a:solidFill>
                  <a:schemeClr val="tx1"/>
                </a:solidFill>
              </a:rPr>
              <a:t>большая уязвимость граждан перед рыночными рисками (болезнь, потеря работы)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Постсоциалистическая страна (РФ): высокая неравномерность доходов, нестабильные рынки труда, низкий уровень доверия правовым институтам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FE4DD9E-D443-AF4F-A072-F5C4D494A0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Институциональный контекст и страновые различия в уровне счастья</a:t>
            </a:r>
          </a:p>
        </p:txBody>
      </p:sp>
    </p:spTree>
    <p:extLst>
      <p:ext uri="{BB962C8B-B14F-4D97-AF65-F5344CB8AC3E}">
        <p14:creationId xmlns:p14="http://schemas.microsoft.com/office/powerpoint/2010/main" val="4020148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A33D5D5-13C7-8644-8CD8-A04CCCE736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Магистерская программа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“Аналитика больших данных”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8095CB-94DB-754D-A4ED-35EBDDB3F7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636837" cy="408109"/>
          </a:xfrm>
        </p:spPr>
        <p:txBody>
          <a:bodyPr/>
          <a:lstStyle/>
          <a:p>
            <a:r>
              <a:rPr lang="ru-RU" dirty="0"/>
              <a:t>Взаимосвязь социально-экономических факторов и восприятия счастья в странах с разными моделями общественного устройства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EBFC62C-9588-F544-918B-2104A12C9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10714699" cy="77702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ru-RU" dirty="0"/>
              <a:t>Постановка гипотез 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622317-DCC7-F945-8031-3E7F389B98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115258"/>
            <a:ext cx="9692839" cy="301860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tx1"/>
                </a:solidFill>
                <a:effectLst/>
                <a:latin typeface="-apple-system"/>
              </a:rPr>
              <a:t>Шведы в среднем счастливее, чем люди в Великобритании и в России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tx1"/>
                </a:solidFill>
                <a:effectLst/>
                <a:latin typeface="-apple-system"/>
              </a:rPr>
              <a:t>В России самооценка здоровья тесно связана с уровнем счастья: люди, оценивающие своё здоровье хуже, в среднем чувствуют себя менее счастливыми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tx1"/>
                </a:solidFill>
                <a:effectLst/>
                <a:latin typeface="-apple-system"/>
              </a:rPr>
              <a:t>В Великобритании финансовая удовлетворенность входит в число наиболее важных факторов, связанных с уровнем счастья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tx1"/>
                </a:solidFill>
                <a:effectLst/>
                <a:latin typeface="-apple-system"/>
              </a:rPr>
              <a:t>В Швеции более частые встречи с близкими связаны с более высоким уровнем счастья, но эта связь особенно заметна среди тех, кто встречается с ними чаще всего</a:t>
            </a:r>
            <a:endParaRPr lang="en-US" sz="1600" b="0" i="0" dirty="0">
              <a:solidFill>
                <a:schemeClr val="tx1"/>
              </a:solidFill>
              <a:effectLst/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tx1"/>
                </a:solidFill>
                <a:effectLst/>
                <a:latin typeface="-apple-system"/>
              </a:rPr>
              <a:t>В Швеции, где люди склонны больше доверять окружающим, наблюдается более сильная и более последовательно возрастающая связь между доверием и счастьем, чем в РФ и Великобритании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FE4DD9E-D443-AF4F-A072-F5C4D494A0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DD7E82-9029-49E7-832B-A023279E2C09}"/>
              </a:ext>
            </a:extLst>
          </p:cNvPr>
          <p:cNvSpPr txBox="1"/>
          <p:nvPr/>
        </p:nvSpPr>
        <p:spPr>
          <a:xfrm>
            <a:off x="9959566" y="2012500"/>
            <a:ext cx="19276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  <a:latin typeface="Arial MT"/>
              </a:rPr>
              <a:t>Предмет исследования</a:t>
            </a:r>
          </a:p>
          <a:p>
            <a:pPr algn="ctr"/>
            <a:endParaRPr lang="ru-RU" sz="1200" dirty="0">
              <a:solidFill>
                <a:schemeClr val="bg1"/>
              </a:solidFill>
              <a:latin typeface="Arial MT"/>
            </a:endParaRPr>
          </a:p>
          <a:p>
            <a:pPr algn="ctr"/>
            <a:endParaRPr lang="ru-RU" sz="1200" dirty="0">
              <a:solidFill>
                <a:schemeClr val="bg1"/>
              </a:solidFill>
              <a:latin typeface="Arial MT"/>
            </a:endParaRPr>
          </a:p>
          <a:p>
            <a:pPr algn="ctr"/>
            <a:r>
              <a:rPr lang="ru-RU" sz="1200" dirty="0">
                <a:solidFill>
                  <a:schemeClr val="bg1"/>
                </a:solidFill>
                <a:latin typeface="Arial MT"/>
              </a:rPr>
              <a:t>Субъективное благополучие</a:t>
            </a:r>
          </a:p>
        </p:txBody>
      </p:sp>
    </p:spTree>
    <p:extLst>
      <p:ext uri="{BB962C8B-B14F-4D97-AF65-F5344CB8AC3E}">
        <p14:creationId xmlns:p14="http://schemas.microsoft.com/office/powerpoint/2010/main" val="1298157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A33D5D5-13C7-8644-8CD8-A04CCCE736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Магистерская программа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“Аналитика больших данных”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8095CB-94DB-754D-A4ED-35EBDDB3F7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636837" cy="408109"/>
          </a:xfrm>
        </p:spPr>
        <p:txBody>
          <a:bodyPr/>
          <a:lstStyle/>
          <a:p>
            <a:r>
              <a:rPr lang="ru-RU" dirty="0"/>
              <a:t>Взаимосвязь социально-экономических факторов и восприятия счастья в странах с разными моделями общественного устройства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EBFC62C-9588-F544-918B-2104A12C9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10714699" cy="77702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ru-RU" dirty="0"/>
              <a:t>Описание данных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622317-DCC7-F945-8031-3E7F389B98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115258"/>
            <a:ext cx="4236359" cy="3457769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Источник данных – </a:t>
            </a:r>
            <a:r>
              <a:rPr lang="en-US" sz="1400" dirty="0">
                <a:solidFill>
                  <a:schemeClr val="tx1"/>
                </a:solidFill>
              </a:rPr>
              <a:t>ESS</a:t>
            </a:r>
            <a:r>
              <a:rPr lang="ru-RU" sz="1400" dirty="0">
                <a:solidFill>
                  <a:schemeClr val="tx1"/>
                </a:solidFill>
              </a:rPr>
              <a:t>  (волны за 2006, 2008, 2010, 2012, 2016 годы для трех стран: Великобритания, Швеция и Россия)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ru-RU" sz="1400" dirty="0">
                <a:solidFill>
                  <a:schemeClr val="tx1"/>
                </a:solidFill>
              </a:rPr>
              <a:t>Объем выборки – 32523 наблюдения, из которых для Швеции – 8652, для РФ – 12458, для Великобритании - 11413</a:t>
            </a:r>
          </a:p>
          <a:p>
            <a:r>
              <a:rPr lang="ru-RU" sz="1400" dirty="0">
                <a:solidFill>
                  <a:schemeClr val="tx1"/>
                </a:solidFill>
              </a:rPr>
              <a:t>Данные содержат 1 количественную и 12 категориальных признаков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FE4DD9E-D443-AF4F-A072-F5C4D494A0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Формирование выборки и предобработка данных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38599A5-7620-41DF-9B33-341F1AF88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288" y="1772354"/>
            <a:ext cx="6154814" cy="438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70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A33D5D5-13C7-8644-8CD8-A04CCCE736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Магистерская программа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“Аналитика больших данных”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8095CB-94DB-754D-A4ED-35EBDDB3F7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636837" cy="408109"/>
          </a:xfrm>
        </p:spPr>
        <p:txBody>
          <a:bodyPr/>
          <a:lstStyle/>
          <a:p>
            <a:r>
              <a:rPr lang="ru-RU" dirty="0"/>
              <a:t>Взаимосвязь социально-экономических факторов и восприятия счастья в странах с разными моделями общественного устройства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EBFC62C-9588-F544-918B-2104A12C9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10714699" cy="77702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ru-RU" dirty="0"/>
              <a:t>Преобразования данных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622317-DCC7-F945-8031-3E7F389B98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1894901"/>
            <a:ext cx="9747924" cy="133304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Были исследованы специальные коды и созданы 9 </a:t>
            </a:r>
            <a:r>
              <a:rPr lang="ru-RU" sz="1400" dirty="0" err="1">
                <a:solidFill>
                  <a:schemeClr val="tx1"/>
                </a:solidFill>
              </a:rPr>
              <a:t>дамми</a:t>
            </a:r>
            <a:r>
              <a:rPr lang="ru-RU" sz="1400" dirty="0">
                <a:solidFill>
                  <a:schemeClr val="tx1"/>
                </a:solidFill>
              </a:rPr>
              <a:t> переменных: </a:t>
            </a:r>
            <a:r>
              <a:rPr lang="ru-RU" sz="1400" dirty="0" err="1">
                <a:solidFill>
                  <a:schemeClr val="tx1"/>
                </a:solidFill>
              </a:rPr>
              <a:t>дамми</a:t>
            </a:r>
            <a:r>
              <a:rPr lang="ru-RU" sz="1400" dirty="0">
                <a:solidFill>
                  <a:schemeClr val="tx1"/>
                </a:solidFill>
              </a:rPr>
              <a:t> с отказом отвечать на вопрос о дециле дохода домохозяйства отдельно для каждой страны, </a:t>
            </a:r>
            <a:r>
              <a:rPr lang="ru-RU" sz="1400" dirty="0" err="1">
                <a:solidFill>
                  <a:schemeClr val="tx1"/>
                </a:solidFill>
              </a:rPr>
              <a:t>дамми</a:t>
            </a:r>
            <a:r>
              <a:rPr lang="ru-RU" sz="1400" dirty="0">
                <a:solidFill>
                  <a:schemeClr val="tx1"/>
                </a:solidFill>
              </a:rPr>
              <a:t> с затруднением ответить на вопрос о дециле дохода домохозяйства отдельно для каждой страны и </a:t>
            </a:r>
            <a:r>
              <a:rPr lang="ru-RU" sz="1400" dirty="0" err="1">
                <a:solidFill>
                  <a:schemeClr val="tx1"/>
                </a:solidFill>
              </a:rPr>
              <a:t>дамми</a:t>
            </a:r>
            <a:r>
              <a:rPr lang="ru-RU" sz="1400" dirty="0">
                <a:solidFill>
                  <a:schemeClr val="tx1"/>
                </a:solidFill>
              </a:rPr>
              <a:t> с затруднением ответить на вопрос о доверии парламенту отдельно для каждой страны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Пропуски для качественных признаков заменены на моду, а для количественного – на медиану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FE4DD9E-D443-AF4F-A072-F5C4D494A0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Формирование выборки и предобработка данных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D70EFC9F-CFDE-4F67-8F80-8031B3744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828918"/>
              </p:ext>
            </p:extLst>
          </p:nvPr>
        </p:nvGraphicFramePr>
        <p:xfrm>
          <a:off x="770021" y="3256819"/>
          <a:ext cx="10268891" cy="28709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4546">
                  <a:extLst>
                    <a:ext uri="{9D8B030D-6E8A-4147-A177-3AD203B41FA5}">
                      <a16:colId xmlns:a16="http://schemas.microsoft.com/office/drawing/2014/main" val="920752911"/>
                    </a:ext>
                  </a:extLst>
                </a:gridCol>
                <a:gridCol w="1227429">
                  <a:extLst>
                    <a:ext uri="{9D8B030D-6E8A-4147-A177-3AD203B41FA5}">
                      <a16:colId xmlns:a16="http://schemas.microsoft.com/office/drawing/2014/main" val="3318598056"/>
                    </a:ext>
                  </a:extLst>
                </a:gridCol>
                <a:gridCol w="1140988">
                  <a:extLst>
                    <a:ext uri="{9D8B030D-6E8A-4147-A177-3AD203B41FA5}">
                      <a16:colId xmlns:a16="http://schemas.microsoft.com/office/drawing/2014/main" val="2225681700"/>
                    </a:ext>
                  </a:extLst>
                </a:gridCol>
                <a:gridCol w="1140988">
                  <a:extLst>
                    <a:ext uri="{9D8B030D-6E8A-4147-A177-3AD203B41FA5}">
                      <a16:colId xmlns:a16="http://schemas.microsoft.com/office/drawing/2014/main" val="2706812378"/>
                    </a:ext>
                  </a:extLst>
                </a:gridCol>
                <a:gridCol w="1140988">
                  <a:extLst>
                    <a:ext uri="{9D8B030D-6E8A-4147-A177-3AD203B41FA5}">
                      <a16:colId xmlns:a16="http://schemas.microsoft.com/office/drawing/2014/main" val="3160533011"/>
                    </a:ext>
                  </a:extLst>
                </a:gridCol>
                <a:gridCol w="1140988">
                  <a:extLst>
                    <a:ext uri="{9D8B030D-6E8A-4147-A177-3AD203B41FA5}">
                      <a16:colId xmlns:a16="http://schemas.microsoft.com/office/drawing/2014/main" val="300107421"/>
                    </a:ext>
                  </a:extLst>
                </a:gridCol>
                <a:gridCol w="1140988">
                  <a:extLst>
                    <a:ext uri="{9D8B030D-6E8A-4147-A177-3AD203B41FA5}">
                      <a16:colId xmlns:a16="http://schemas.microsoft.com/office/drawing/2014/main" val="4283819600"/>
                    </a:ext>
                  </a:extLst>
                </a:gridCol>
                <a:gridCol w="1140988">
                  <a:extLst>
                    <a:ext uri="{9D8B030D-6E8A-4147-A177-3AD203B41FA5}">
                      <a16:colId xmlns:a16="http://schemas.microsoft.com/office/drawing/2014/main" val="3667980275"/>
                    </a:ext>
                  </a:extLst>
                </a:gridCol>
                <a:gridCol w="1140988">
                  <a:extLst>
                    <a:ext uri="{9D8B030D-6E8A-4147-A177-3AD203B41FA5}">
                      <a16:colId xmlns:a16="http://schemas.microsoft.com/office/drawing/2014/main" val="4093204697"/>
                    </a:ext>
                  </a:extLst>
                </a:gridCol>
              </a:tblGrid>
              <a:tr h="74331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effectLst/>
                        </a:rPr>
                        <a:t>Переменная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effectLst/>
                        </a:rPr>
                        <a:t>Валидный диапазон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Валидные %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effectLst/>
                        </a:rPr>
                        <a:t>Отказы %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effectLst/>
                        </a:rPr>
                        <a:t>Не знаю %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effectLst/>
                        </a:rPr>
                        <a:t>Нет ответа %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effectLst/>
                        </a:rPr>
                        <a:t>Не применимо %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effectLst/>
                        </a:rPr>
                        <a:t>Пропущенные %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effectLst/>
                        </a:rPr>
                        <a:t>Другие %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255306"/>
                  </a:ext>
                </a:extLst>
              </a:tr>
              <a:tr h="23009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ppltrst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0-10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99.49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0.47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023493"/>
                  </a:ext>
                </a:extLst>
              </a:tr>
              <a:tr h="23009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 err="1">
                          <a:solidFill>
                            <a:schemeClr val="tx1"/>
                          </a:solidFill>
                          <a:effectLst/>
                        </a:rPr>
                        <a:t>trstplc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0-10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98.13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0.06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1.80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991495"/>
                  </a:ext>
                </a:extLst>
              </a:tr>
              <a:tr h="286851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 err="1">
                          <a:solidFill>
                            <a:schemeClr val="tx1"/>
                          </a:solidFill>
                          <a:effectLst/>
                        </a:rPr>
                        <a:t>trstprl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0-10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96.48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0.06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3.43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0.02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0.00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0.00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0.00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52268"/>
                  </a:ext>
                </a:extLst>
              </a:tr>
              <a:tr h="23009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happy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0-10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99.31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0.06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0.63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0.00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761053"/>
                  </a:ext>
                </a:extLst>
              </a:tr>
              <a:tr h="23009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 err="1">
                          <a:solidFill>
                            <a:schemeClr val="tx1"/>
                          </a:solidFill>
                          <a:effectLst/>
                        </a:rPr>
                        <a:t>health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1-5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99.78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0.20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0.00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659087"/>
                  </a:ext>
                </a:extLst>
              </a:tr>
              <a:tr h="23009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sclmeet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1-7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99.00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0.96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865338"/>
                  </a:ext>
                </a:extLst>
              </a:tr>
              <a:tr h="23009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hincfel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1-4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98.46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0.26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1.23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0.05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0.00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0.00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993028"/>
                  </a:ext>
                </a:extLst>
              </a:tr>
              <a:tr h="23009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 err="1">
                          <a:solidFill>
                            <a:schemeClr val="tx1"/>
                          </a:solidFill>
                          <a:effectLst/>
                        </a:rPr>
                        <a:t>hinctnta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1-10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66.71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5.25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7.22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0.04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0.00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20.78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0.00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794620"/>
                  </a:ext>
                </a:extLst>
              </a:tr>
              <a:tr h="23009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 err="1">
                          <a:solidFill>
                            <a:schemeClr val="tx1"/>
                          </a:solidFill>
                          <a:effectLst/>
                        </a:rPr>
                        <a:t>mnactic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1-9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99.82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0.09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0.04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0.00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0.00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944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688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A33D5D5-13C7-8644-8CD8-A04CCCE736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Магистерская программа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“Аналитика больших данных”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8095CB-94DB-754D-A4ED-35EBDDB3F7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636837" cy="408109"/>
          </a:xfrm>
        </p:spPr>
        <p:txBody>
          <a:bodyPr/>
          <a:lstStyle/>
          <a:p>
            <a:r>
              <a:rPr lang="ru-RU" dirty="0"/>
              <a:t>Взаимосвязь социально-экономических факторов и восприятия счастья в странах с разными моделями общественного устройства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EBFC62C-9588-F544-918B-2104A12C9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10714699" cy="77702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ru-RU" dirty="0"/>
              <a:t>Описательная статистика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622317-DCC7-F945-8031-3E7F389B98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30448" y="2037252"/>
            <a:ext cx="3003406" cy="385677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Швеция лидирует по всем типам доверия, по субъективному здоровью, частоте встреч с друзьями, удовлетворенности финансами, лучшие условия занятости и более высокую продолжительность жизни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 РФ наихудшие показатели по здоровью, по финансовому благополучию, частоте встреч с друзьями, доверия к людям и полиции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Шведы в среднем счастливее, чем люди в Великобритании и в России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solidFill>
                <a:srgbClr val="1F1F1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FE4DD9E-D443-AF4F-A072-F5C4D494A0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Разведочный анализ и построение корреляционных матриц</a:t>
            </a:r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BA0329BA-284D-4EF4-BF76-E4DCAAF47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342392"/>
              </p:ext>
            </p:extLst>
          </p:nvPr>
        </p:nvGraphicFramePr>
        <p:xfrm>
          <a:off x="585898" y="2037252"/>
          <a:ext cx="6883535" cy="2695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707">
                  <a:extLst>
                    <a:ext uri="{9D8B030D-6E8A-4147-A177-3AD203B41FA5}">
                      <a16:colId xmlns:a16="http://schemas.microsoft.com/office/drawing/2014/main" val="281395215"/>
                    </a:ext>
                  </a:extLst>
                </a:gridCol>
                <a:gridCol w="1376707">
                  <a:extLst>
                    <a:ext uri="{9D8B030D-6E8A-4147-A177-3AD203B41FA5}">
                      <a16:colId xmlns:a16="http://schemas.microsoft.com/office/drawing/2014/main" val="454134994"/>
                    </a:ext>
                  </a:extLst>
                </a:gridCol>
                <a:gridCol w="1376707">
                  <a:extLst>
                    <a:ext uri="{9D8B030D-6E8A-4147-A177-3AD203B41FA5}">
                      <a16:colId xmlns:a16="http://schemas.microsoft.com/office/drawing/2014/main" val="4245603752"/>
                    </a:ext>
                  </a:extLst>
                </a:gridCol>
                <a:gridCol w="1376707">
                  <a:extLst>
                    <a:ext uri="{9D8B030D-6E8A-4147-A177-3AD203B41FA5}">
                      <a16:colId xmlns:a16="http://schemas.microsoft.com/office/drawing/2014/main" val="4214146138"/>
                    </a:ext>
                  </a:extLst>
                </a:gridCol>
                <a:gridCol w="1376707">
                  <a:extLst>
                    <a:ext uri="{9D8B030D-6E8A-4147-A177-3AD203B41FA5}">
                      <a16:colId xmlns:a16="http://schemas.microsoft.com/office/drawing/2014/main" val="4291275425"/>
                    </a:ext>
                  </a:extLst>
                </a:gridCol>
              </a:tblGrid>
              <a:tr h="2076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Переменная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Россия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Великобритания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Швеция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p-value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690188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ppltrst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4.22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5.32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6.17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 0.001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215291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trstplc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3.86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6.42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6.74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 0.001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88390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trstprl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9.20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6.56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7.47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 0.001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310396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happy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6.20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7.53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7.85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 0.001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229793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health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2.72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2.05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1.95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 0.001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140338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sclmeet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4.39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4.91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5.49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 0.001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573126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hincfel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2.83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1.91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1.56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 0.001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979743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hinctnta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21.83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22.41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12.47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 0.001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296881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eisced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4.41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2.89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4.02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 0.001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294398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agea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43.83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46.31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47.16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 0.001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197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99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A33D5D5-13C7-8644-8CD8-A04CCCE736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Магистерская программа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“Аналитика больших данных”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8095CB-94DB-754D-A4ED-35EBDDB3F7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636837" cy="408109"/>
          </a:xfrm>
        </p:spPr>
        <p:txBody>
          <a:bodyPr/>
          <a:lstStyle/>
          <a:p>
            <a:r>
              <a:rPr lang="ru-RU" dirty="0"/>
              <a:t>Взаимосвязь социально-экономических факторов и восприятия счастья в странах с разными моделями общественного устройства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FE4DD9E-D443-AF4F-A072-F5C4D494A0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Разведочный анализ и построение корреляционных матриц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53E8E7F-E309-4BBD-9737-EE71E0A2D511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783"/>
          <a:stretch/>
        </p:blipFill>
        <p:spPr bwMode="auto">
          <a:xfrm>
            <a:off x="5079394" y="1416250"/>
            <a:ext cx="6526708" cy="5007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Текст 4">
            <a:extLst>
              <a:ext uri="{FF2B5EF4-FFF2-40B4-BE49-F238E27FC236}">
                <a16:creationId xmlns:a16="http://schemas.microsoft.com/office/drawing/2014/main" id="{A0EBA77F-ABB1-471F-9D02-20CAF8FDCA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8996" y="2211886"/>
            <a:ext cx="3003406" cy="385677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 всех трех странах чем выше доверие людям, полиции и парламенту, тем выше средний уровень счастья и наоборот.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Во всех трех странах чем выше субъективная оценка здоровья, тем выше средний уровень счастья и наоборот</a:t>
            </a:r>
            <a:endParaRPr lang="ru-RU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solidFill>
                <a:srgbClr val="1F1F1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077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A33D5D5-13C7-8644-8CD8-A04CCCE736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Магистерская программа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“Аналитика больших данных”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8095CB-94DB-754D-A4ED-35EBDDB3F7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636837" cy="408109"/>
          </a:xfrm>
        </p:spPr>
        <p:txBody>
          <a:bodyPr/>
          <a:lstStyle/>
          <a:p>
            <a:r>
              <a:rPr lang="ru-RU" dirty="0"/>
              <a:t>Взаимосвязь социально-экономических факторов и восприятия счастья в странах с разными моделями общественного устройства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FE4DD9E-D443-AF4F-A072-F5C4D494A0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Разведочный анализ и построение корреляционных матриц</a:t>
            </a: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A0EBA77F-ABB1-471F-9D02-20CAF8FDCA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8996" y="1347537"/>
            <a:ext cx="3003406" cy="4969559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 всех трех странах чем человек более социально активен, тем в среднем счастливее и наоборот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Во всех трех странах чем выше субъективная оценка финансов и дециль домохозяйства, тем в среднем человек счастливее, и наоборот</a:t>
            </a:r>
            <a:endParaRPr lang="ru-RU" sz="1400" dirty="0">
              <a:solidFill>
                <a:srgbClr val="1F1F1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</a:rPr>
              <a:t>В Великобритании и РФ в среднем более счастливы студенты, в то время как в Швеции – работающие люди. При этом в РФ в среднем менее счастливы люди на пенсии, в Швеции – безработные, а в Великобритании – те, кто занимается иной деятельностью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</a:rPr>
              <a:t>Во всех трех странах в среднем более счастливы люди с высшим образованием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</a:rPr>
              <a:t>Во всех трех странах средний уровень счастья несильно отличается в зависимости от пола, но можно заметить, что в Великобритании и Швеции женщины чуть счастливее в среднем, чем мужчины, а в РФ – наоборот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7010B51-ABBD-4C94-A2B8-AF4E8BAEC638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24"/>
          <a:stretch/>
        </p:blipFill>
        <p:spPr bwMode="auto">
          <a:xfrm>
            <a:off x="5487926" y="1347537"/>
            <a:ext cx="5963348" cy="52361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1453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Корреляция признаков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6" y="2029015"/>
            <a:ext cx="11317755" cy="1399985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В Швеции наблюдается положительная монотонная связь между уровнем счастья и уровнем финансовой удовлетворенности и доверия к полиции и людям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В Великобритании наиболее значимые корреляции с целевой переменной у признаков, отвечающих за здоровье, финансовое благополучие и доверие полиции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В РФ наиболее значимые корреляции с целевой переменной у признаков, отвечающих  за здоровье, финансовую удовлетворенность, возраст</a:t>
            </a:r>
          </a:p>
          <a:p>
            <a:pPr marL="342900" lvl="0" indent="-342900">
              <a:lnSpc>
                <a:spcPct val="150000"/>
              </a:lnSpc>
              <a:spcBef>
                <a:spcPts val="1200"/>
              </a:spcBef>
              <a:buFont typeface="Symbol" panose="05050102010706020507" pitchFamily="18" charset="2"/>
              <a:buChar char=""/>
            </a:pP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Магистерская программа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“Аналитика больших данных”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636837" cy="408109"/>
          </a:xfrm>
        </p:spPr>
        <p:txBody>
          <a:bodyPr/>
          <a:lstStyle/>
          <a:p>
            <a:r>
              <a:rPr lang="ru-RU" dirty="0"/>
              <a:t>Взаимосвязь социально-экономических факторов и восприятия счастья в странах с разными моделями общественного устройства</a:t>
            </a:r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Разведочный анализ и построение корреляционных матриц</a:t>
            </a:r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586B72BA-30D5-4B6D-9EE8-831F1C3305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422657"/>
              </p:ext>
            </p:extLst>
          </p:nvPr>
        </p:nvGraphicFramePr>
        <p:xfrm>
          <a:off x="710817" y="4803087"/>
          <a:ext cx="5245561" cy="1338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4652">
                  <a:extLst>
                    <a:ext uri="{9D8B030D-6E8A-4147-A177-3AD203B41FA5}">
                      <a16:colId xmlns:a16="http://schemas.microsoft.com/office/drawing/2014/main" val="281395215"/>
                    </a:ext>
                  </a:extLst>
                </a:gridCol>
                <a:gridCol w="1506528">
                  <a:extLst>
                    <a:ext uri="{9D8B030D-6E8A-4147-A177-3AD203B41FA5}">
                      <a16:colId xmlns:a16="http://schemas.microsoft.com/office/drawing/2014/main" val="454134994"/>
                    </a:ext>
                  </a:extLst>
                </a:gridCol>
                <a:gridCol w="994381">
                  <a:extLst>
                    <a:ext uri="{9D8B030D-6E8A-4147-A177-3AD203B41FA5}">
                      <a16:colId xmlns:a16="http://schemas.microsoft.com/office/drawing/2014/main" val="4245603752"/>
                    </a:ext>
                  </a:extLst>
                </a:gridCol>
              </a:tblGrid>
              <a:tr h="2076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Переменная для Швеции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Корреляция с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happy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Значимость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690188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Health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-0.3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Значима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215291"/>
                  </a:ext>
                </a:extLst>
              </a:tr>
              <a:tr h="18912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hincfel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-0.23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Значима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88390"/>
                  </a:ext>
                </a:extLst>
              </a:tr>
              <a:tr h="35746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trstp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lc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0.17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Значима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310396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ppltrst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0.17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Значима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229793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0C2BE4E1-B6FB-4FF4-95F4-239E93F42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043211"/>
              </p:ext>
            </p:extLst>
          </p:nvPr>
        </p:nvGraphicFramePr>
        <p:xfrm>
          <a:off x="710818" y="3560977"/>
          <a:ext cx="5245561" cy="956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527">
                  <a:extLst>
                    <a:ext uri="{9D8B030D-6E8A-4147-A177-3AD203B41FA5}">
                      <a16:colId xmlns:a16="http://schemas.microsoft.com/office/drawing/2014/main" val="28139521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454134994"/>
                    </a:ext>
                  </a:extLst>
                </a:gridCol>
                <a:gridCol w="1008994">
                  <a:extLst>
                    <a:ext uri="{9D8B030D-6E8A-4147-A177-3AD203B41FA5}">
                      <a16:colId xmlns:a16="http://schemas.microsoft.com/office/drawing/2014/main" val="4245603752"/>
                    </a:ext>
                  </a:extLst>
                </a:gridCol>
              </a:tblGrid>
              <a:tr h="28031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Переменная для Великобритании 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Корреляция с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happy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Значимость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690188"/>
                  </a:ext>
                </a:extLst>
              </a:tr>
              <a:tr h="17960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Health</a:t>
                      </a: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 -0.24 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Значима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215291"/>
                  </a:ext>
                </a:extLst>
              </a:tr>
              <a:tr h="17960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1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hincfel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-0.29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Значима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88390"/>
                  </a:ext>
                </a:extLst>
              </a:tr>
              <a:tr h="18863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trstp</a:t>
                      </a: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lc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 0.21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Значима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310396"/>
                  </a:ext>
                </a:extLst>
              </a:tr>
            </a:tbl>
          </a:graphicData>
        </a:graphic>
      </p:graphicFrame>
      <p:graphicFrame>
        <p:nvGraphicFramePr>
          <p:cNvPr id="12" name="Таблица 10">
            <a:extLst>
              <a:ext uri="{FF2B5EF4-FFF2-40B4-BE49-F238E27FC236}">
                <a16:creationId xmlns:a16="http://schemas.microsoft.com/office/drawing/2014/main" id="{288FFE73-71D8-4088-BAB7-2E6BDE0F9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113367"/>
              </p:ext>
            </p:extLst>
          </p:nvPr>
        </p:nvGraphicFramePr>
        <p:xfrm>
          <a:off x="6360544" y="3564609"/>
          <a:ext cx="5120640" cy="921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129">
                  <a:extLst>
                    <a:ext uri="{9D8B030D-6E8A-4147-A177-3AD203B41FA5}">
                      <a16:colId xmlns:a16="http://schemas.microsoft.com/office/drawing/2014/main" val="281395215"/>
                    </a:ext>
                  </a:extLst>
                </a:gridCol>
                <a:gridCol w="1549668">
                  <a:extLst>
                    <a:ext uri="{9D8B030D-6E8A-4147-A177-3AD203B41FA5}">
                      <a16:colId xmlns:a16="http://schemas.microsoft.com/office/drawing/2014/main" val="454134994"/>
                    </a:ext>
                  </a:extLst>
                </a:gridCol>
                <a:gridCol w="1634843">
                  <a:extLst>
                    <a:ext uri="{9D8B030D-6E8A-4147-A177-3AD203B41FA5}">
                      <a16:colId xmlns:a16="http://schemas.microsoft.com/office/drawing/2014/main" val="4245603752"/>
                    </a:ext>
                  </a:extLst>
                </a:gridCol>
              </a:tblGrid>
              <a:tr h="2076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Переменная для РФ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Корреляция с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happy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Значимость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690188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Health</a:t>
                      </a: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-0.31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Значима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215291"/>
                  </a:ext>
                </a:extLst>
              </a:tr>
              <a:tr h="1891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1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hincfel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-0.25 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Значима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88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agea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-0.20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Значима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310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686AF3F-C863-864E-AFDC-D574F8060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Магистерская программа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“Аналитика больших данных”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A1EC68-7619-8F49-AEC3-176ECF1F6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636837" cy="408109"/>
          </a:xfrm>
        </p:spPr>
        <p:txBody>
          <a:bodyPr/>
          <a:lstStyle/>
          <a:p>
            <a:r>
              <a:rPr lang="ru-RU" dirty="0"/>
              <a:t>Взаимосвязь социально-экономических факторов и восприятия счастья в странах с разными моделями общественного устройства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23B065-0902-0141-A245-63D5DCF436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Прогнозирование уровня счастья с использованием методов машинного обучения	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872CBB7-AE1B-9D40-A298-6BDF023AF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моделей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7F297E4-9695-684A-A8A3-54FEC94600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9" y="2379663"/>
            <a:ext cx="11185798" cy="2919450"/>
          </a:xfrm>
        </p:spPr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Были использованы следующие модели для каждой страны: 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ru-RU" b="0" dirty="0">
              <a:effectLst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Модель линейной регрессии</a:t>
            </a:r>
            <a:r>
              <a:rPr lang="en-US" sz="1800" b="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;</a:t>
            </a:r>
            <a:endParaRPr lang="en-GB" sz="1800" b="0" i="0" u="none" strike="noStrike" dirty="0">
              <a:solidFill>
                <a:srgbClr val="0F2C68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модель </a:t>
            </a:r>
            <a:r>
              <a:rPr lang="en-GB" sz="1800" b="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SVM (Support Vector Machine);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модель </a:t>
            </a:r>
            <a:r>
              <a:rPr lang="en-GB" sz="1800" b="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Decision Tree;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модель </a:t>
            </a:r>
            <a:r>
              <a:rPr lang="en-GB" sz="1800" b="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Random Forest;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модель </a:t>
            </a:r>
            <a:r>
              <a:rPr lang="en-GB" sz="1800" b="0" i="0" u="none" strike="noStrike" dirty="0" err="1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CatBoost</a:t>
            </a:r>
            <a:r>
              <a:rPr lang="en-GB" sz="1800" dirty="0">
                <a:solidFill>
                  <a:srgbClr val="0F2C68"/>
                </a:solidFill>
                <a:latin typeface="Arial" panose="020B0604020202020204" pitchFamily="34" charset="0"/>
              </a:rPr>
              <a:t>;</a:t>
            </a:r>
            <a:endParaRPr lang="en-GB" sz="1800" b="0" i="0" u="none" strike="noStrike" dirty="0">
              <a:solidFill>
                <a:srgbClr val="0F2C68"/>
              </a:solidFill>
              <a:effectLst/>
              <a:latin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1150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Магистерская программа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“Аналитика больших данных”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636837" cy="415925"/>
          </a:xfrm>
        </p:spPr>
        <p:txBody>
          <a:bodyPr/>
          <a:lstStyle/>
          <a:p>
            <a:r>
              <a:rPr lang="ru-RU" dirty="0"/>
              <a:t>Взаимосвязь социально-экономических факторов и восприятия счастья в странах с разными моделями общественного устройства</a:t>
            </a:r>
          </a:p>
          <a:p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</a:t>
            </a:r>
            <a:r>
              <a:rPr lang="en-US" dirty="0"/>
              <a:t>OLS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443433" cy="415925"/>
          </a:xfrm>
        </p:spPr>
        <p:txBody>
          <a:bodyPr/>
          <a:lstStyle/>
          <a:p>
            <a:r>
              <a:rPr lang="ru-RU" dirty="0"/>
              <a:t>Прогнозирование уровня счастья с использованием методов машинного обучения</a:t>
            </a:r>
          </a:p>
        </p:txBody>
      </p:sp>
      <p:sp>
        <p:nvSpPr>
          <p:cNvPr id="9" name="Заголовок 3">
            <a:extLst>
              <a:ext uri="{FF2B5EF4-FFF2-40B4-BE49-F238E27FC236}">
                <a16:creationId xmlns:a16="http://schemas.microsoft.com/office/drawing/2014/main" id="{FD94DD8E-E7D6-4A53-A525-4615BBAC05DC}"/>
              </a:ext>
            </a:extLst>
          </p:cNvPr>
          <p:cNvSpPr txBox="1">
            <a:spLocks/>
          </p:cNvSpPr>
          <p:nvPr/>
        </p:nvSpPr>
        <p:spPr>
          <a:xfrm>
            <a:off x="7481607" y="2587218"/>
            <a:ext cx="3348151" cy="125548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sz="1400" dirty="0">
                <a:latin typeface="-apple-system"/>
              </a:rPr>
              <a:t>В Швеции более частые встречи с близкими связаны с более высоким уровнем счастья, но эта связь особенно заметна среди тех, кто встречается с ними чаще всего</a:t>
            </a:r>
            <a:endParaRPr lang="en-US" sz="1400" dirty="0">
              <a:latin typeface="-apple-system"/>
            </a:endParaRPr>
          </a:p>
        </p:txBody>
      </p:sp>
      <p:graphicFrame>
        <p:nvGraphicFramePr>
          <p:cNvPr id="13" name="Таблица 10">
            <a:extLst>
              <a:ext uri="{FF2B5EF4-FFF2-40B4-BE49-F238E27FC236}">
                <a16:creationId xmlns:a16="http://schemas.microsoft.com/office/drawing/2014/main" id="{C17548FB-A314-4833-B3EA-D3EA64E5C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207843"/>
              </p:ext>
            </p:extLst>
          </p:nvPr>
        </p:nvGraphicFramePr>
        <p:xfrm>
          <a:off x="710817" y="2098961"/>
          <a:ext cx="5245561" cy="1743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4652">
                  <a:extLst>
                    <a:ext uri="{9D8B030D-6E8A-4147-A177-3AD203B41FA5}">
                      <a16:colId xmlns:a16="http://schemas.microsoft.com/office/drawing/2014/main" val="281395215"/>
                    </a:ext>
                  </a:extLst>
                </a:gridCol>
                <a:gridCol w="1506528">
                  <a:extLst>
                    <a:ext uri="{9D8B030D-6E8A-4147-A177-3AD203B41FA5}">
                      <a16:colId xmlns:a16="http://schemas.microsoft.com/office/drawing/2014/main" val="454134994"/>
                    </a:ext>
                  </a:extLst>
                </a:gridCol>
                <a:gridCol w="994381">
                  <a:extLst>
                    <a:ext uri="{9D8B030D-6E8A-4147-A177-3AD203B41FA5}">
                      <a16:colId xmlns:a16="http://schemas.microsoft.com/office/drawing/2014/main" val="4245603752"/>
                    </a:ext>
                  </a:extLst>
                </a:gridCol>
              </a:tblGrid>
              <a:tr h="3865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Переменная для Швеции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Коэффициент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Значимость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690188"/>
                  </a:ext>
                </a:extLst>
              </a:tr>
              <a:tr h="13199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sclmeet_2.0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0.4122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 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215291"/>
                  </a:ext>
                </a:extLst>
              </a:tr>
              <a:tr h="22970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sclmeet_3.0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0.7353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 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88390"/>
                  </a:ext>
                </a:extLst>
              </a:tr>
              <a:tr h="15765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sclmeet_4.0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0.8334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 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310396"/>
                  </a:ext>
                </a:extLst>
              </a:tr>
              <a:tr h="7405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sclmeet_5.0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0.7875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 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229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sclmeet_6.0 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0.9222 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089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sclmeet_7.0 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1.0267 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530786"/>
                  </a:ext>
                </a:extLst>
              </a:tr>
            </a:tbl>
          </a:graphicData>
        </a:graphic>
      </p:graphicFrame>
      <p:graphicFrame>
        <p:nvGraphicFramePr>
          <p:cNvPr id="14" name="Таблица 10">
            <a:extLst>
              <a:ext uri="{FF2B5EF4-FFF2-40B4-BE49-F238E27FC236}">
                <a16:creationId xmlns:a16="http://schemas.microsoft.com/office/drawing/2014/main" id="{95382574-F454-415B-977F-8BF176971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131396"/>
              </p:ext>
            </p:extLst>
          </p:nvPr>
        </p:nvGraphicFramePr>
        <p:xfrm>
          <a:off x="710816" y="4141806"/>
          <a:ext cx="5245561" cy="1288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4652">
                  <a:extLst>
                    <a:ext uri="{9D8B030D-6E8A-4147-A177-3AD203B41FA5}">
                      <a16:colId xmlns:a16="http://schemas.microsoft.com/office/drawing/2014/main" val="281395215"/>
                    </a:ext>
                  </a:extLst>
                </a:gridCol>
                <a:gridCol w="1506528">
                  <a:extLst>
                    <a:ext uri="{9D8B030D-6E8A-4147-A177-3AD203B41FA5}">
                      <a16:colId xmlns:a16="http://schemas.microsoft.com/office/drawing/2014/main" val="454134994"/>
                    </a:ext>
                  </a:extLst>
                </a:gridCol>
                <a:gridCol w="994381">
                  <a:extLst>
                    <a:ext uri="{9D8B030D-6E8A-4147-A177-3AD203B41FA5}">
                      <a16:colId xmlns:a16="http://schemas.microsoft.com/office/drawing/2014/main" val="4245603752"/>
                    </a:ext>
                  </a:extLst>
                </a:gridCol>
              </a:tblGrid>
              <a:tr h="3865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Переменная для РФ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Коэффициент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Значимость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690188"/>
                  </a:ext>
                </a:extLst>
              </a:tr>
              <a:tr h="13199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health_2.0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-0.4321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215291"/>
                  </a:ext>
                </a:extLst>
              </a:tr>
              <a:tr h="18798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health_3.0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-1.0450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88390"/>
                  </a:ext>
                </a:extLst>
              </a:tr>
              <a:tr h="15765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health_4.0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-1.7450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310396"/>
                  </a:ext>
                </a:extLst>
              </a:tr>
              <a:tr h="7405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health_5.0 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-2.2898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22979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CDF25FB0-4656-4854-AE19-18ED6DD179BB}"/>
              </a:ext>
            </a:extLst>
          </p:cNvPr>
          <p:cNvSpPr txBox="1"/>
          <p:nvPr/>
        </p:nvSpPr>
        <p:spPr>
          <a:xfrm>
            <a:off x="7481607" y="4223215"/>
            <a:ext cx="398860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ru-RU" sz="1400" dirty="0">
                <a:latin typeface="-apple-system"/>
                <a:ea typeface="+mj-ea"/>
                <a:cs typeface="+mj-cs"/>
              </a:rPr>
              <a:t>В России самооценка здоровья тесно связана с уровнем счастья: люди, оценивающие своё здоровье хуже, в среднем чувствуют себя менее счастливыми.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Магистерская программа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“Аналитика больших данных”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636837" cy="415925"/>
          </a:xfrm>
        </p:spPr>
        <p:txBody>
          <a:bodyPr/>
          <a:lstStyle/>
          <a:p>
            <a:r>
              <a:rPr lang="ru-RU" dirty="0"/>
              <a:t>Взаимосвязь социально-экономических факторов и восприятия счастья в странах с разными моделями общественного устройства</a:t>
            </a:r>
          </a:p>
          <a:p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</a:t>
            </a:r>
            <a:r>
              <a:rPr lang="en-US" dirty="0"/>
              <a:t>OLS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443433" cy="415925"/>
          </a:xfrm>
        </p:spPr>
        <p:txBody>
          <a:bodyPr/>
          <a:lstStyle/>
          <a:p>
            <a:r>
              <a:rPr lang="ru-RU" dirty="0"/>
              <a:t>Прогнозирование уровня счастья с использованием методов машинного обучения</a:t>
            </a:r>
          </a:p>
        </p:txBody>
      </p:sp>
      <p:sp>
        <p:nvSpPr>
          <p:cNvPr id="9" name="Заголовок 3">
            <a:extLst>
              <a:ext uri="{FF2B5EF4-FFF2-40B4-BE49-F238E27FC236}">
                <a16:creationId xmlns:a16="http://schemas.microsoft.com/office/drawing/2014/main" id="{FD94DD8E-E7D6-4A53-A525-4615BBAC05DC}"/>
              </a:ext>
            </a:extLst>
          </p:cNvPr>
          <p:cNvSpPr txBox="1">
            <a:spLocks/>
          </p:cNvSpPr>
          <p:nvPr/>
        </p:nvSpPr>
        <p:spPr>
          <a:xfrm>
            <a:off x="710817" y="5602519"/>
            <a:ext cx="10618119" cy="125548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sz="1400" dirty="0">
                <a:latin typeface="-apple-system"/>
              </a:rPr>
              <a:t>В Швеции, где люди склонны больше доверять окружающим, наблюдается более сильная и более последовательно возрастающая связь между доверием и счастьем, чем в РФ и Великобритании</a:t>
            </a:r>
          </a:p>
        </p:txBody>
      </p:sp>
      <p:graphicFrame>
        <p:nvGraphicFramePr>
          <p:cNvPr id="13" name="Таблица 10">
            <a:extLst>
              <a:ext uri="{FF2B5EF4-FFF2-40B4-BE49-F238E27FC236}">
                <a16:creationId xmlns:a16="http://schemas.microsoft.com/office/drawing/2014/main" id="{C17548FB-A314-4833-B3EA-D3EA64E5C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704473"/>
              </p:ext>
            </p:extLst>
          </p:nvPr>
        </p:nvGraphicFramePr>
        <p:xfrm>
          <a:off x="710817" y="2147545"/>
          <a:ext cx="10618119" cy="3139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792">
                  <a:extLst>
                    <a:ext uri="{9D8B030D-6E8A-4147-A177-3AD203B41FA5}">
                      <a16:colId xmlns:a16="http://schemas.microsoft.com/office/drawing/2014/main" val="281395215"/>
                    </a:ext>
                  </a:extLst>
                </a:gridCol>
                <a:gridCol w="1250031">
                  <a:extLst>
                    <a:ext uri="{9D8B030D-6E8A-4147-A177-3AD203B41FA5}">
                      <a16:colId xmlns:a16="http://schemas.microsoft.com/office/drawing/2014/main" val="454134994"/>
                    </a:ext>
                  </a:extLst>
                </a:gridCol>
                <a:gridCol w="1405288">
                  <a:extLst>
                    <a:ext uri="{9D8B030D-6E8A-4147-A177-3AD203B41FA5}">
                      <a16:colId xmlns:a16="http://schemas.microsoft.com/office/drawing/2014/main" val="4245603752"/>
                    </a:ext>
                  </a:extLst>
                </a:gridCol>
                <a:gridCol w="1174283">
                  <a:extLst>
                    <a:ext uri="{9D8B030D-6E8A-4147-A177-3AD203B41FA5}">
                      <a16:colId xmlns:a16="http://schemas.microsoft.com/office/drawing/2014/main" val="3379167827"/>
                    </a:ext>
                  </a:extLst>
                </a:gridCol>
                <a:gridCol w="1020277">
                  <a:extLst>
                    <a:ext uri="{9D8B030D-6E8A-4147-A177-3AD203B41FA5}">
                      <a16:colId xmlns:a16="http://schemas.microsoft.com/office/drawing/2014/main" val="1718024370"/>
                    </a:ext>
                  </a:extLst>
                </a:gridCol>
                <a:gridCol w="1674796">
                  <a:extLst>
                    <a:ext uri="{9D8B030D-6E8A-4147-A177-3AD203B41FA5}">
                      <a16:colId xmlns:a16="http://schemas.microsoft.com/office/drawing/2014/main" val="355527152"/>
                    </a:ext>
                  </a:extLst>
                </a:gridCol>
                <a:gridCol w="933652">
                  <a:extLst>
                    <a:ext uri="{9D8B030D-6E8A-4147-A177-3AD203B41FA5}">
                      <a16:colId xmlns:a16="http://schemas.microsoft.com/office/drawing/2014/main" val="4203364584"/>
                    </a:ext>
                  </a:extLst>
                </a:gridCol>
              </a:tblGrid>
              <a:tr h="3865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Переменная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Коэффициент для Швеции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Значимость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Коэффициент для РФ</a:t>
                      </a: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Значимость</a:t>
                      </a: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Коэффициент для Великобритании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Значимость</a:t>
                      </a: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690188"/>
                  </a:ext>
                </a:extLst>
              </a:tr>
              <a:tr h="13199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ppltrst_1.0 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0.4647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Не 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0.1543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Не 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-0.5478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215291"/>
                  </a:ext>
                </a:extLst>
              </a:tr>
              <a:tr h="22970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ppltrst_2.0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0.1445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Не 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-0.0963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Не 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0.0431 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Не 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88390"/>
                  </a:ext>
                </a:extLst>
              </a:tr>
              <a:tr h="15765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ppltrst_3.0 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0.2785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Не 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-0.0079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Не 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-0.0454 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Не 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310396"/>
                  </a:ext>
                </a:extLst>
              </a:tr>
              <a:tr h="18059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ppltrst_4.0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0.4226 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Не 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-0.0203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Не 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-0.0710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Не 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229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ppltrst_5.0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0.5563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0.0296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Не 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0.1245 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Не 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089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ppltrst_6.0 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0.5067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0.2009 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0.1718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Не 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530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ppltrst_7.0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0.5454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0.2955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0.1688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Не 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5222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ppltrst_8.0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0.7150 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0.5246 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0.3181 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820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ppltrst_9.0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0.8483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0.6639 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0.4263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499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ppltrst_10.0 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0.9737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0.6989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0.6963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Значим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532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318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Магистерская программа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“Аналитика больших данных”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636837" cy="415925"/>
          </a:xfrm>
        </p:spPr>
        <p:txBody>
          <a:bodyPr/>
          <a:lstStyle/>
          <a:p>
            <a:r>
              <a:rPr lang="ru-RU" dirty="0"/>
              <a:t>Взаимосвязь социально-экономических факторов и восприятия счастья в странах с разными моделями общественного устройства</a:t>
            </a:r>
          </a:p>
          <a:p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моделей по доле объясненной дисперсии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443433" cy="415925"/>
          </a:xfrm>
        </p:spPr>
        <p:txBody>
          <a:bodyPr/>
          <a:lstStyle/>
          <a:p>
            <a:r>
              <a:rPr lang="ru-RU" dirty="0"/>
              <a:t>Прогнозирование уровня счастья с использованием методов машинного обучения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Заголовок 3">
                <a:extLst>
                  <a:ext uri="{FF2B5EF4-FFF2-40B4-BE49-F238E27FC236}">
                    <a16:creationId xmlns:a16="http://schemas.microsoft.com/office/drawing/2014/main" id="{FD94DD8E-E7D6-4A53-A525-4615BBAC05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60954" y="3256520"/>
                <a:ext cx="3348151" cy="1255481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0" i="0" kern="1200">
                    <a:solidFill>
                      <a:schemeClr val="tx1"/>
                    </a:solidFill>
                    <a:latin typeface="HSE Sans" panose="02000000000000000000" pitchFamily="2" charset="0"/>
                    <a:ea typeface="+mj-ea"/>
                    <a:cs typeface="+mj-cs"/>
                  </a:defRPr>
                </a:lvl1pPr>
              </a:lstStyle>
              <a:p>
                <a:r>
                  <a:rPr lang="ru-RU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Модель </a:t>
                </a:r>
                <a:r>
                  <a:rPr lang="ru-RU" sz="14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CatBoost</a:t>
                </a:r>
                <a:r>
                  <a:rPr lang="ru-RU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использующая подход градиентного </a:t>
                </a:r>
                <a:r>
                  <a:rPr lang="ru-RU" sz="14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бустинга</a:t>
                </a:r>
                <a:r>
                  <a:rPr lang="ru-RU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показала наибольшее значение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400" b="0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400" b="0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400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на тестовых данных среди рассмотренных методов во всех странах</a:t>
                </a:r>
                <a:endParaRPr lang="ru-RU" sz="1400" dirty="0"/>
              </a:p>
            </p:txBody>
          </p:sp>
        </mc:Choice>
        <mc:Fallback xmlns="">
          <p:sp>
            <p:nvSpPr>
              <p:cNvPr id="9" name="Заголовок 3">
                <a:extLst>
                  <a:ext uri="{FF2B5EF4-FFF2-40B4-BE49-F238E27FC236}">
                    <a16:creationId xmlns:a16="http://schemas.microsoft.com/office/drawing/2014/main" id="{FD94DD8E-E7D6-4A53-A525-4615BBAC0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0954" y="3256520"/>
                <a:ext cx="3348151" cy="1255481"/>
              </a:xfrm>
              <a:prstGeom prst="rect">
                <a:avLst/>
              </a:prstGeom>
              <a:blipFill>
                <a:blip r:embed="rId3"/>
                <a:stretch>
                  <a:fillRect l="-3279" t="-43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C42484BC-32F6-4A36-9465-702D4409314B}"/>
              </a:ext>
            </a:extLst>
          </p:cNvPr>
          <p:cNvGraphicFramePr/>
          <p:nvPr/>
        </p:nvGraphicFramePr>
        <p:xfrm>
          <a:off x="758152" y="2013117"/>
          <a:ext cx="7129925" cy="4314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7514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986F7981-A866-4E4F-9C65-238C1CF1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Магистерская программа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“Аналитика больших данных”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B0430D-2AAB-034E-ACD0-CF459E67A8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636837" cy="494129"/>
          </a:xfrm>
        </p:spPr>
        <p:txBody>
          <a:bodyPr/>
          <a:lstStyle/>
          <a:p>
            <a:r>
              <a:rPr lang="ru-RU" dirty="0"/>
              <a:t>Взаимосвязь социально-экономических факторов и восприятия счастья в странах с разными моделями общественного устройства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FAF764-99F8-D24D-8800-048869E594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Прогнозирование уровня счастья с использованием методов машинного обучения</a:t>
            </a:r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180B62D-0B0D-424A-9F38-8A8CCB1A71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5787" y="1447064"/>
            <a:ext cx="8307955" cy="70320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ru-RU" sz="2400" dirty="0">
                <a:solidFill>
                  <a:schemeClr val="tx1"/>
                </a:solidFill>
                <a:ea typeface="+mj-ea"/>
                <a:cs typeface="+mj-cs"/>
              </a:rPr>
              <a:t>Топ-5 предикторов для каждой страны по </a:t>
            </a:r>
            <a:r>
              <a:rPr lang="en-US" sz="2400" dirty="0" err="1">
                <a:solidFill>
                  <a:schemeClr val="tx1"/>
                </a:solidFill>
                <a:ea typeface="+mj-ea"/>
                <a:cs typeface="+mj-cs"/>
              </a:rPr>
              <a:t>CatBoost</a:t>
            </a:r>
            <a:endParaRPr lang="ru-RU" sz="240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8320C78-70B9-FB4C-A8E5-E019F0B0F7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В Швеции и России решающим предикторов субъективного благополучия выступает состояние здоровья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В Великобритании ведущую роль играет удовлетворённость уровнем дохода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err="1"/>
              <a:t>CatBoost</a:t>
            </a:r>
            <a:r>
              <a:rPr lang="ru-RU" sz="1400" dirty="0"/>
              <a:t> включает возраст (</a:t>
            </a:r>
            <a:r>
              <a:rPr lang="ru-RU" sz="1400" dirty="0" err="1"/>
              <a:t>agea</a:t>
            </a:r>
            <a:r>
              <a:rPr lang="ru-RU" sz="1400" dirty="0"/>
              <a:t>) в число пяти наиболее значимых переменных для Швеции и Великобритании, что делает его более чувствительным к демографическим характеристикам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07F0CAEF-E937-4688-9FB0-CFC15ACBE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096273"/>
              </p:ext>
            </p:extLst>
          </p:nvPr>
        </p:nvGraphicFramePr>
        <p:xfrm>
          <a:off x="5827922" y="2375396"/>
          <a:ext cx="5188944" cy="21072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7236">
                  <a:extLst>
                    <a:ext uri="{9D8B030D-6E8A-4147-A177-3AD203B41FA5}">
                      <a16:colId xmlns:a16="http://schemas.microsoft.com/office/drawing/2014/main" val="4073983800"/>
                    </a:ext>
                  </a:extLst>
                </a:gridCol>
                <a:gridCol w="1297236">
                  <a:extLst>
                    <a:ext uri="{9D8B030D-6E8A-4147-A177-3AD203B41FA5}">
                      <a16:colId xmlns:a16="http://schemas.microsoft.com/office/drawing/2014/main" val="3344841404"/>
                    </a:ext>
                  </a:extLst>
                </a:gridCol>
                <a:gridCol w="1297236">
                  <a:extLst>
                    <a:ext uri="{9D8B030D-6E8A-4147-A177-3AD203B41FA5}">
                      <a16:colId xmlns:a16="http://schemas.microsoft.com/office/drawing/2014/main" val="1114983950"/>
                    </a:ext>
                  </a:extLst>
                </a:gridCol>
                <a:gridCol w="1297236">
                  <a:extLst>
                    <a:ext uri="{9D8B030D-6E8A-4147-A177-3AD203B41FA5}">
                      <a16:colId xmlns:a16="http://schemas.microsoft.com/office/drawing/2014/main" val="1945030521"/>
                    </a:ext>
                  </a:extLst>
                </a:gridCol>
              </a:tblGrid>
              <a:tr h="6213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Ранг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Швеция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Великобритания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Россия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087662"/>
                  </a:ext>
                </a:extLst>
              </a:tr>
              <a:tr h="29717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</a:rPr>
                        <a:t>health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(32.52)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</a:rPr>
                        <a:t>hincfel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(23.61)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</a:rPr>
                        <a:t>health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(24.63)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174658"/>
                  </a:ext>
                </a:extLst>
              </a:tr>
              <a:tr h="29717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</a:rPr>
                        <a:t>hincfel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(15.10)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</a:rPr>
                        <a:t>health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(22.62)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</a:rPr>
                        <a:t>hincfel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(14.70)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260573"/>
                  </a:ext>
                </a:extLst>
              </a:tr>
              <a:tr h="29717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</a:rPr>
                        <a:t>ppltrst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(11.03)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</a:rPr>
                        <a:t>trstplc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(12.69)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</a:rPr>
                        <a:t>trstplc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(12.30)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784267"/>
                  </a:ext>
                </a:extLst>
              </a:tr>
              <a:tr h="29717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agea (10.54)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sclmeet (9.70)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</a:rPr>
                        <a:t>sclmeet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(9.66)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857750"/>
                  </a:ext>
                </a:extLst>
              </a:tr>
              <a:tr h="29717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</a:rPr>
                        <a:t>trstplc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(9.50)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</a:rPr>
                        <a:t>agea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(9.39)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</a:rPr>
                        <a:t>trstprl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(9.38)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957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5894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986F7981-A866-4E4F-9C65-238C1CF1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Магистерская программа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</a:rPr>
              <a:t>“Аналитика больших данных”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B0430D-2AAB-034E-ACD0-CF459E67A8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636837" cy="494129"/>
          </a:xfrm>
        </p:spPr>
        <p:txBody>
          <a:bodyPr/>
          <a:lstStyle/>
          <a:p>
            <a:r>
              <a:rPr lang="ru-RU" dirty="0"/>
              <a:t>Взаимосвязь социально-экономических факторов и восприятия счастья в странах с разными моделями общественного устройства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FAF764-99F8-D24D-8800-048869E594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180B62D-0B0D-424A-9F38-8A8CCB1A71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5788" y="1447064"/>
            <a:ext cx="6520092" cy="70320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ru-RU" sz="2400" dirty="0">
                <a:solidFill>
                  <a:schemeClr val="tx1"/>
                </a:solidFill>
                <a:ea typeface="+mj-ea"/>
                <a:cs typeface="+mj-cs"/>
              </a:rPr>
              <a:t>Выводы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8320C78-70B9-FB4C-A8E5-E019F0B0F7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379663"/>
            <a:ext cx="10640290" cy="2399371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В среднем в Швеции люди более счастливы по сравнению с населением Великобритании и России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В России самооценка здоровья тесно связана с уровнем счастья: люди, оценивающие своё здоровье хуже, в среднем чувствуют себя менее счастливыми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-apple-system"/>
              </a:rPr>
              <a:t>В Великобритании финансовая удовлетворенность входит в число наиболее важных факторов, связанных с уровнем счастья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-apple-system"/>
              </a:rPr>
              <a:t>В Швеции более частые встречи с близкими связаны с более высоким уровнем счастья, но эта связь особенно заметна среди тех, кто встречается с ними чаще всего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-apple-system"/>
              </a:rPr>
              <a:t>В Швеции, где люди склонны больше доверять окружающим, доверие сильнее влияет на счастье человека, чем в Великобритании и России</a:t>
            </a:r>
            <a:endParaRPr lang="ru-RU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  <a:latin typeface="-apple-system"/>
              </a:rPr>
              <a:t>Топ-2 предиктора счастья для каждой страны – здоровье и финансовая удовлетворенность</a:t>
            </a:r>
            <a:endParaRPr lang="ru-RU" sz="1400" b="0" i="0" dirty="0">
              <a:solidFill>
                <a:schemeClr val="tx1"/>
              </a:solidFill>
              <a:effectLst/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39610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3574</TotalTime>
  <Words>2473</Words>
  <Application>Microsoft Office PowerPoint</Application>
  <PresentationFormat>Широкоэкранный</PresentationFormat>
  <Paragraphs>498</Paragraphs>
  <Slides>17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7" baseType="lpstr">
      <vt:lpstr>-apple-system</vt:lpstr>
      <vt:lpstr>Arial</vt:lpstr>
      <vt:lpstr>Arial MT</vt:lpstr>
      <vt:lpstr>Calibri</vt:lpstr>
      <vt:lpstr>Calibri Light</vt:lpstr>
      <vt:lpstr>Cambria Math</vt:lpstr>
      <vt:lpstr>HSE Sans</vt:lpstr>
      <vt:lpstr>Symbol</vt:lpstr>
      <vt:lpstr>Times New Roman</vt:lpstr>
      <vt:lpstr>Office Theme</vt:lpstr>
      <vt:lpstr>Взаимосвязь социально-экономических факторов и восприятия счастья в странах с разными моделями общественного устройства</vt:lpstr>
      <vt:lpstr>Цель</vt:lpstr>
      <vt:lpstr>Модели общественного устройства</vt:lpstr>
      <vt:lpstr>Постановка гипотез </vt:lpstr>
      <vt:lpstr>Описание данных</vt:lpstr>
      <vt:lpstr>Преобразования данных</vt:lpstr>
      <vt:lpstr>Описательная статистика</vt:lpstr>
      <vt:lpstr>Презентация PowerPoint</vt:lpstr>
      <vt:lpstr>Презентация PowerPoint</vt:lpstr>
      <vt:lpstr>Корреляция признаков</vt:lpstr>
      <vt:lpstr>Обучение моделей</vt:lpstr>
      <vt:lpstr>Модель OLS</vt:lpstr>
      <vt:lpstr>Модель OLS</vt:lpstr>
      <vt:lpstr>Сравнение моделей по доле объясненной дисперсии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Алсу Хасаншина</cp:lastModifiedBy>
  <cp:revision>81</cp:revision>
  <cp:lastPrinted>2021-11-11T13:08:42Z</cp:lastPrinted>
  <dcterms:created xsi:type="dcterms:W3CDTF">2021-11-11T08:52:47Z</dcterms:created>
  <dcterms:modified xsi:type="dcterms:W3CDTF">2026-05-06T16:28:14Z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